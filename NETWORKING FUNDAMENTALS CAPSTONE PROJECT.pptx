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C8D8AD-8B16-4BD3-970A-54748DC14CB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713129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8D8AD-8B16-4BD3-970A-54748DC14CB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349235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C8D8AD-8B16-4BD3-970A-54748DC14CB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24149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2269882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C8D8AD-8B16-4BD3-970A-54748DC14CBE}" type="datetimeFigureOut">
              <a:rPr lang="en-US" smtClean="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2855177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C8D8AD-8B16-4BD3-970A-54748DC14CBE}"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23414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2C8D8AD-8B16-4BD3-970A-54748DC14CBE}" type="datetimeFigureOut">
              <a:rPr lang="en-US" smtClean="0"/>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609924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3124717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426629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010212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2922695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58311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C8D8AD-8B16-4BD3-970A-54748DC14CB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58411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C8D8AD-8B16-4BD3-970A-54748DC14CBE}"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603741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C8D8AD-8B16-4BD3-970A-54748DC14CBE}"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4195281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8D8AD-8B16-4BD3-970A-54748DC14CB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2224654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8D8AD-8B16-4BD3-970A-54748DC14CB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C717C-E58A-45F7-B9D1-0151098DCE2B}" type="slidenum">
              <a:rPr lang="en-US" smtClean="0"/>
              <a:t>‹#›</a:t>
            </a:fld>
            <a:endParaRPr lang="en-US"/>
          </a:p>
        </p:txBody>
      </p:sp>
    </p:spTree>
    <p:extLst>
      <p:ext uri="{BB962C8B-B14F-4D97-AF65-F5344CB8AC3E}">
        <p14:creationId xmlns:p14="http://schemas.microsoft.com/office/powerpoint/2010/main" val="151402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2C8D8AD-8B16-4BD3-970A-54748DC14CBE}" type="datetimeFigureOut">
              <a:rPr lang="en-US" smtClean="0"/>
              <a:t>1/19/2026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64C717C-E58A-45F7-B9D1-0151098DCE2B}" type="slidenum">
              <a:rPr lang="en-US" smtClean="0"/>
              <a:t>‹#›</a:t>
            </a:fld>
            <a:endParaRPr lang="en-US"/>
          </a:p>
        </p:txBody>
      </p:sp>
    </p:spTree>
    <p:extLst>
      <p:ext uri="{BB962C8B-B14F-4D97-AF65-F5344CB8AC3E}">
        <p14:creationId xmlns:p14="http://schemas.microsoft.com/office/powerpoint/2010/main" val="397988965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D91AF-D3E6-66F9-211F-AFF514762E63}"/>
              </a:ext>
            </a:extLst>
          </p:cNvPr>
          <p:cNvSpPr>
            <a:spLocks noGrp="1"/>
          </p:cNvSpPr>
          <p:nvPr>
            <p:ph type="ctrTitle"/>
          </p:nvPr>
        </p:nvSpPr>
        <p:spPr/>
        <p:txBody>
          <a:bodyPr/>
          <a:lstStyle/>
          <a:p>
            <a:r>
              <a:rPr lang="en-US" dirty="0"/>
              <a:t>NETWORKING FUNDAMENTALS CAPSTONE PROJECT</a:t>
            </a:r>
          </a:p>
        </p:txBody>
      </p:sp>
      <p:sp>
        <p:nvSpPr>
          <p:cNvPr id="3" name="Subtitle 2">
            <a:extLst>
              <a:ext uri="{FF2B5EF4-FFF2-40B4-BE49-F238E27FC236}">
                <a16:creationId xmlns:a16="http://schemas.microsoft.com/office/drawing/2014/main" id="{FB2F0180-780B-08C2-8AAD-46B487BF2AF2}"/>
              </a:ext>
            </a:extLst>
          </p:cNvPr>
          <p:cNvSpPr>
            <a:spLocks noGrp="1"/>
          </p:cNvSpPr>
          <p:nvPr>
            <p:ph type="subTitle" idx="1"/>
          </p:nvPr>
        </p:nvSpPr>
        <p:spPr>
          <a:xfrm>
            <a:off x="1751012" y="4093029"/>
            <a:ext cx="8689976" cy="1164770"/>
          </a:xfrm>
        </p:spPr>
        <p:txBody>
          <a:bodyPr/>
          <a:lstStyle/>
          <a:p>
            <a:pPr algn="r"/>
            <a:r>
              <a:rPr lang="en-US" dirty="0"/>
              <a:t>Godswill Archibong</a:t>
            </a:r>
          </a:p>
        </p:txBody>
      </p:sp>
    </p:spTree>
    <p:extLst>
      <p:ext uri="{BB962C8B-B14F-4D97-AF65-F5344CB8AC3E}">
        <p14:creationId xmlns:p14="http://schemas.microsoft.com/office/powerpoint/2010/main" val="88138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51DD-F671-7F9B-9E79-861C4B535A44}"/>
              </a:ext>
            </a:extLst>
          </p:cNvPr>
          <p:cNvSpPr>
            <a:spLocks noGrp="1"/>
          </p:cNvSpPr>
          <p:nvPr>
            <p:ph type="title"/>
          </p:nvPr>
        </p:nvSpPr>
        <p:spPr>
          <a:xfrm>
            <a:off x="913775" y="618517"/>
            <a:ext cx="10364451" cy="1373569"/>
          </a:xfrm>
        </p:spPr>
        <p:txBody>
          <a:bodyPr/>
          <a:lstStyle/>
          <a:p>
            <a:r>
              <a:rPr lang="en-US" dirty="0"/>
              <a:t>introduction</a:t>
            </a:r>
          </a:p>
        </p:txBody>
      </p:sp>
      <p:sp>
        <p:nvSpPr>
          <p:cNvPr id="3" name="Content Placeholder 2">
            <a:extLst>
              <a:ext uri="{FF2B5EF4-FFF2-40B4-BE49-F238E27FC236}">
                <a16:creationId xmlns:a16="http://schemas.microsoft.com/office/drawing/2014/main" id="{58B0AFEA-48EA-E22A-37FF-4A4049529216}"/>
              </a:ext>
            </a:extLst>
          </p:cNvPr>
          <p:cNvSpPr>
            <a:spLocks noGrp="1"/>
          </p:cNvSpPr>
          <p:nvPr>
            <p:ph sz="quarter" idx="13"/>
          </p:nvPr>
        </p:nvSpPr>
        <p:spPr>
          <a:xfrm>
            <a:off x="740229" y="1905000"/>
            <a:ext cx="10537371" cy="4463143"/>
          </a:xfrm>
        </p:spPr>
        <p:txBody>
          <a:bodyPr>
            <a:normAutofit/>
          </a:bodyPr>
          <a:lstStyle/>
          <a:p>
            <a:r>
              <a:rPr lang="en-US" sz="2400" b="1" dirty="0"/>
              <a:t>Company Name:</a:t>
            </a:r>
            <a:r>
              <a:rPr lang="en-US" sz="2400" dirty="0"/>
              <a:t> RICHKIM EMPIRE</a:t>
            </a:r>
            <a:br>
              <a:rPr lang="en-US" sz="2400" dirty="0"/>
            </a:br>
            <a:r>
              <a:rPr lang="en-US" sz="2400" b="1" dirty="0"/>
              <a:t>Parent Organization:</a:t>
            </a:r>
            <a:r>
              <a:rPr lang="en-US" sz="2400" dirty="0"/>
              <a:t> </a:t>
            </a:r>
            <a:r>
              <a:rPr lang="en-US" sz="2400" cap="none" dirty="0"/>
              <a:t>Akamai Technologies (Capstone Scenario)</a:t>
            </a:r>
            <a:br>
              <a:rPr lang="en-US" sz="2400" dirty="0"/>
            </a:br>
            <a:r>
              <a:rPr lang="en-US" sz="2400" b="1" dirty="0"/>
              <a:t>Industry Focus:</a:t>
            </a:r>
            <a:r>
              <a:rPr lang="en-US" sz="2400" dirty="0"/>
              <a:t> </a:t>
            </a:r>
            <a:r>
              <a:rPr lang="en-US" sz="2400" cap="none" dirty="0"/>
              <a:t>Cybersecurity Services For SOHO Clients</a:t>
            </a:r>
          </a:p>
          <a:p>
            <a:r>
              <a:rPr lang="en-US" sz="2400" b="1" cap="none" dirty="0"/>
              <a:t>RICHKIM EMPIRE </a:t>
            </a:r>
            <a:r>
              <a:rPr lang="en-US" sz="2400" cap="none" dirty="0"/>
              <a:t>is a fictitious cybersecurity startup created as part of Akamai’s networking fundamentals capstone project. The goal of this project is to design, implement, and validate a secure and functional internal network suitable for a small office home office (SOHO) cybersecurity company.</a:t>
            </a:r>
          </a:p>
          <a:p>
            <a:r>
              <a:rPr lang="en-US" sz="2400" cap="none" dirty="0"/>
              <a:t>This presentation outlines the network design decisions, implemented services, and validation steps used to demonstrate practical networking knowledge.</a:t>
            </a:r>
          </a:p>
          <a:p>
            <a:endParaRPr lang="en-US" dirty="0"/>
          </a:p>
        </p:txBody>
      </p:sp>
    </p:spTree>
    <p:extLst>
      <p:ext uri="{BB962C8B-B14F-4D97-AF65-F5344CB8AC3E}">
        <p14:creationId xmlns:p14="http://schemas.microsoft.com/office/powerpoint/2010/main" val="3058986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B2907-C090-0E14-67F4-B5547A884452}"/>
              </a:ext>
            </a:extLst>
          </p:cNvPr>
          <p:cNvSpPr>
            <a:spLocks noGrp="1"/>
          </p:cNvSpPr>
          <p:nvPr>
            <p:ph type="title"/>
          </p:nvPr>
        </p:nvSpPr>
        <p:spPr/>
        <p:txBody>
          <a:bodyPr/>
          <a:lstStyle/>
          <a:p>
            <a:r>
              <a:rPr lang="en-US" dirty="0"/>
              <a:t>Business context</a:t>
            </a:r>
          </a:p>
        </p:txBody>
      </p:sp>
      <p:sp>
        <p:nvSpPr>
          <p:cNvPr id="3" name="Content Placeholder 2">
            <a:extLst>
              <a:ext uri="{FF2B5EF4-FFF2-40B4-BE49-F238E27FC236}">
                <a16:creationId xmlns:a16="http://schemas.microsoft.com/office/drawing/2014/main" id="{1B95DAEE-02F5-573F-B6A7-E8725CF6EF59}"/>
              </a:ext>
            </a:extLst>
          </p:cNvPr>
          <p:cNvSpPr>
            <a:spLocks noGrp="1"/>
          </p:cNvSpPr>
          <p:nvPr>
            <p:ph sz="quarter" idx="13"/>
          </p:nvPr>
        </p:nvSpPr>
        <p:spPr>
          <a:xfrm>
            <a:off x="913774" y="1850571"/>
            <a:ext cx="10363826" cy="4388912"/>
          </a:xfrm>
        </p:spPr>
        <p:txBody>
          <a:bodyPr>
            <a:normAutofit/>
          </a:bodyPr>
          <a:lstStyle/>
          <a:p>
            <a:r>
              <a:rPr lang="en-US" sz="2400" b="1" cap="none" dirty="0"/>
              <a:t>RICHKIM EMPIRE</a:t>
            </a:r>
            <a:r>
              <a:rPr lang="en-US" sz="2400" cap="none" dirty="0"/>
              <a:t> operates as a cybersecurity startup company delivering security services to SOHO clients</a:t>
            </a:r>
          </a:p>
          <a:p>
            <a:r>
              <a:rPr lang="en-US" sz="2400" cap="none" dirty="0"/>
              <a:t>The organization consists of </a:t>
            </a:r>
            <a:r>
              <a:rPr lang="en-US" sz="2400" b="1" cap="none" dirty="0"/>
              <a:t>8 employees</a:t>
            </a:r>
            <a:r>
              <a:rPr lang="en-US" sz="2400" cap="none" dirty="0"/>
              <a:t>, including:</a:t>
            </a:r>
          </a:p>
          <a:p>
            <a:pPr lvl="1"/>
            <a:r>
              <a:rPr lang="en-US" sz="2000" cap="none" dirty="0"/>
              <a:t>Chief executive officer (CEO)</a:t>
            </a:r>
          </a:p>
          <a:p>
            <a:pPr lvl="1"/>
            <a:r>
              <a:rPr lang="en-US" sz="2000" cap="none" dirty="0"/>
              <a:t>Operations/business manager</a:t>
            </a:r>
          </a:p>
          <a:p>
            <a:pPr lvl="1"/>
            <a:r>
              <a:rPr lang="en-US" sz="2000" cap="none" dirty="0"/>
              <a:t>Technical staff (security &amp; networking)</a:t>
            </a:r>
          </a:p>
          <a:p>
            <a:pPr lvl="1"/>
            <a:r>
              <a:rPr lang="en-US" sz="2000" cap="none" dirty="0"/>
              <a:t>General administrative staff</a:t>
            </a:r>
          </a:p>
          <a:p>
            <a:r>
              <a:rPr lang="en-US" sz="2400" cap="none" dirty="0"/>
              <a:t>The company maintains a </a:t>
            </a:r>
            <a:r>
              <a:rPr lang="en-US" sz="2400" b="1" cap="none" dirty="0"/>
              <a:t>public-facing web presence</a:t>
            </a:r>
            <a:r>
              <a:rPr lang="en-US" sz="2400" cap="none" dirty="0"/>
              <a:t> to showcase services and support client engagement</a:t>
            </a:r>
          </a:p>
          <a:p>
            <a:endParaRPr lang="en-US" dirty="0"/>
          </a:p>
        </p:txBody>
      </p:sp>
    </p:spTree>
    <p:extLst>
      <p:ext uri="{BB962C8B-B14F-4D97-AF65-F5344CB8AC3E}">
        <p14:creationId xmlns:p14="http://schemas.microsoft.com/office/powerpoint/2010/main" val="419835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523E-070C-8DC5-2307-D80E981990BF}"/>
              </a:ext>
            </a:extLst>
          </p:cNvPr>
          <p:cNvSpPr>
            <a:spLocks noGrp="1"/>
          </p:cNvSpPr>
          <p:nvPr>
            <p:ph type="title"/>
          </p:nvPr>
        </p:nvSpPr>
        <p:spPr/>
        <p:txBody>
          <a:bodyPr/>
          <a:lstStyle/>
          <a:p>
            <a:r>
              <a:rPr lang="en-US" dirty="0"/>
              <a:t>Network Requirements</a:t>
            </a:r>
          </a:p>
        </p:txBody>
      </p:sp>
      <p:sp>
        <p:nvSpPr>
          <p:cNvPr id="4" name="Rectangle 1">
            <a:extLst>
              <a:ext uri="{FF2B5EF4-FFF2-40B4-BE49-F238E27FC236}">
                <a16:creationId xmlns:a16="http://schemas.microsoft.com/office/drawing/2014/main" id="{54E46D5D-4470-463D-6398-590280667911}"/>
              </a:ext>
            </a:extLst>
          </p:cNvPr>
          <p:cNvSpPr>
            <a:spLocks noGrp="1" noChangeArrowheads="1"/>
          </p:cNvSpPr>
          <p:nvPr>
            <p:ph sz="quarter" idx="13"/>
          </p:nvPr>
        </p:nvSpPr>
        <p:spPr bwMode="auto">
          <a:xfrm>
            <a:off x="914400" y="1783233"/>
            <a:ext cx="1067888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Secure Internal Local Area Network (LAN)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kumimoji="0" lang="en-US" altLang="en-US" sz="2200" b="0" i="0" u="none" strike="noStrike" cap="none" normalizeH="0" baseline="0" dirty="0">
                <a:ln>
                  <a:noFill/>
                </a:ln>
                <a:solidFill>
                  <a:schemeClr val="tx1"/>
                </a:solidFill>
                <a:effectLst/>
                <a:latin typeface="Arial" panose="020B0604020202020204" pitchFamily="34" charset="0"/>
              </a:rPr>
              <a:t>Protect internal systems, staff devices, and shared resources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Reliable Internet Connectivity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kumimoji="0" lang="en-US" altLang="en-US" sz="2200" b="0" i="0" u="none" strike="noStrike" cap="none" normalizeH="0" baseline="0" dirty="0">
                <a:ln>
                  <a:noFill/>
                </a:ln>
                <a:solidFill>
                  <a:schemeClr val="tx1"/>
                </a:solidFill>
                <a:effectLst/>
                <a:latin typeface="Arial" panose="020B0604020202020204" pitchFamily="34" charset="0"/>
              </a:rPr>
              <a:t>Enable staff to access cloud services, threat intelligence platforms, and remote tools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Public Web Server Accessibility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kumimoji="0" lang="en-US" altLang="en-US" sz="2200" b="0" i="0" u="none" strike="noStrike" cap="none" normalizeH="0" baseline="0" dirty="0">
                <a:ln>
                  <a:noFill/>
                </a:ln>
                <a:solidFill>
                  <a:schemeClr val="tx1"/>
                </a:solidFill>
                <a:effectLst/>
                <a:latin typeface="Arial" panose="020B0604020202020204" pitchFamily="34" charset="0"/>
              </a:rPr>
              <a:t>Allow external users to access the company website via a public URL</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Support for Shared Office Devices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kumimoji="0" lang="en-US" altLang="en-US" sz="2200" b="0" i="0" u="none" strike="noStrike" cap="none" normalizeH="0" baseline="0" dirty="0">
                <a:ln>
                  <a:noFill/>
                </a:ln>
                <a:solidFill>
                  <a:schemeClr val="tx1"/>
                </a:solidFill>
                <a:effectLst/>
                <a:latin typeface="Arial" panose="020B0604020202020204" pitchFamily="34" charset="0"/>
              </a:rPr>
              <a:t>Network printers and scanners available to designated staff roles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Scalable SOHO-Oriented Design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FontTx/>
              <a:buChar char="•"/>
            </a:pPr>
            <a:r>
              <a:rPr kumimoji="0" lang="en-US" altLang="en-US" sz="2200" b="0" i="0" u="none" strike="noStrike" cap="none" normalizeH="0" baseline="0" dirty="0">
                <a:ln>
                  <a:noFill/>
                </a:ln>
                <a:solidFill>
                  <a:schemeClr val="tx1"/>
                </a:solidFill>
                <a:effectLst/>
                <a:latin typeface="Arial" panose="020B0604020202020204" pitchFamily="34" charset="0"/>
              </a:rPr>
              <a:t>Simple, cost-effective architecture that can grow with the business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9801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7B98-6244-A2E1-0A6E-02C0687029B8}"/>
              </a:ext>
            </a:extLst>
          </p:cNvPr>
          <p:cNvSpPr>
            <a:spLocks noGrp="1"/>
          </p:cNvSpPr>
          <p:nvPr>
            <p:ph type="title"/>
          </p:nvPr>
        </p:nvSpPr>
        <p:spPr/>
        <p:txBody>
          <a:bodyPr/>
          <a:lstStyle/>
          <a:p>
            <a:r>
              <a:rPr lang="en-US" dirty="0"/>
              <a:t>Internal Network Design Overview</a:t>
            </a:r>
          </a:p>
        </p:txBody>
      </p:sp>
      <p:sp>
        <p:nvSpPr>
          <p:cNvPr id="3" name="Content Placeholder 2">
            <a:extLst>
              <a:ext uri="{FF2B5EF4-FFF2-40B4-BE49-F238E27FC236}">
                <a16:creationId xmlns:a16="http://schemas.microsoft.com/office/drawing/2014/main" id="{0B11FD68-54F5-5D2D-4DB9-E9A7E1E78B98}"/>
              </a:ext>
            </a:extLst>
          </p:cNvPr>
          <p:cNvSpPr>
            <a:spLocks noGrp="1"/>
          </p:cNvSpPr>
          <p:nvPr>
            <p:ph sz="quarter" idx="13"/>
          </p:nvPr>
        </p:nvSpPr>
        <p:spPr>
          <a:xfrm>
            <a:off x="913774" y="2013858"/>
            <a:ext cx="10363826" cy="4071256"/>
          </a:xfrm>
        </p:spPr>
        <p:txBody>
          <a:bodyPr>
            <a:normAutofit/>
          </a:bodyPr>
          <a:lstStyle/>
          <a:p>
            <a:r>
              <a:rPr lang="en-US" sz="2800" b="1" cap="none" dirty="0"/>
              <a:t>Network type:</a:t>
            </a:r>
            <a:r>
              <a:rPr lang="en-US" sz="2800" cap="none" dirty="0"/>
              <a:t> small office local area network (LAN)</a:t>
            </a:r>
          </a:p>
          <a:p>
            <a:r>
              <a:rPr lang="en-US" sz="2800" b="1" cap="none" dirty="0"/>
              <a:t>Connected devices:</a:t>
            </a:r>
            <a:endParaRPr lang="en-US" sz="2800" cap="none" dirty="0"/>
          </a:p>
          <a:p>
            <a:pPr lvl="1"/>
            <a:r>
              <a:rPr lang="en-US" sz="2400" cap="none" dirty="0"/>
              <a:t>2+ client pcs (demonstration)</a:t>
            </a:r>
          </a:p>
          <a:p>
            <a:pPr lvl="1"/>
            <a:r>
              <a:rPr lang="en-US" sz="2400" cap="none" dirty="0"/>
              <a:t>4 network printers</a:t>
            </a:r>
          </a:p>
          <a:p>
            <a:pPr lvl="1"/>
            <a:r>
              <a:rPr lang="en-US" sz="2400" cap="none" dirty="0"/>
              <a:t>1 network scanner</a:t>
            </a:r>
          </a:p>
          <a:p>
            <a:pPr lvl="1"/>
            <a:r>
              <a:rPr lang="en-US" sz="2400" cap="none" dirty="0"/>
              <a:t>Internal switch</a:t>
            </a:r>
          </a:p>
          <a:p>
            <a:pPr lvl="1"/>
            <a:r>
              <a:rPr lang="en-US" sz="2400" cap="none" dirty="0"/>
              <a:t>Edge router</a:t>
            </a:r>
          </a:p>
          <a:p>
            <a:endParaRPr lang="en-US" dirty="0"/>
          </a:p>
        </p:txBody>
      </p:sp>
    </p:spTree>
    <p:extLst>
      <p:ext uri="{BB962C8B-B14F-4D97-AF65-F5344CB8AC3E}">
        <p14:creationId xmlns:p14="http://schemas.microsoft.com/office/powerpoint/2010/main" val="1774556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02FC-C655-C452-9BC7-0B41AB958636}"/>
              </a:ext>
            </a:extLst>
          </p:cNvPr>
          <p:cNvSpPr>
            <a:spLocks noGrp="1"/>
          </p:cNvSpPr>
          <p:nvPr>
            <p:ph type="title"/>
          </p:nvPr>
        </p:nvSpPr>
        <p:spPr>
          <a:xfrm>
            <a:off x="913775" y="283030"/>
            <a:ext cx="10364451" cy="1295400"/>
          </a:xfrm>
        </p:spPr>
        <p:txBody>
          <a:bodyPr/>
          <a:lstStyle/>
          <a:p>
            <a:r>
              <a:rPr lang="en-US" dirty="0"/>
              <a:t>Physical &amp; Logical Topology</a:t>
            </a:r>
          </a:p>
        </p:txBody>
      </p:sp>
      <p:sp>
        <p:nvSpPr>
          <p:cNvPr id="3" name="Content Placeholder 2">
            <a:extLst>
              <a:ext uri="{FF2B5EF4-FFF2-40B4-BE49-F238E27FC236}">
                <a16:creationId xmlns:a16="http://schemas.microsoft.com/office/drawing/2014/main" id="{E118EAE8-1C57-3400-3593-33AFB1731884}"/>
              </a:ext>
            </a:extLst>
          </p:cNvPr>
          <p:cNvSpPr>
            <a:spLocks noGrp="1"/>
          </p:cNvSpPr>
          <p:nvPr>
            <p:ph sz="quarter" idx="13"/>
          </p:nvPr>
        </p:nvSpPr>
        <p:spPr>
          <a:xfrm>
            <a:off x="913774" y="1578430"/>
            <a:ext cx="5878912" cy="4996541"/>
          </a:xfrm>
        </p:spPr>
        <p:txBody>
          <a:bodyPr>
            <a:normAutofit fontScale="92500" lnSpcReduction="10000"/>
          </a:bodyPr>
          <a:lstStyle/>
          <a:p>
            <a:r>
              <a:rPr lang="en-US" sz="3000" b="1" cap="none" dirty="0"/>
              <a:t>Connectivity choices:</a:t>
            </a:r>
            <a:endParaRPr lang="en-US" sz="3000" cap="none" dirty="0"/>
          </a:p>
          <a:p>
            <a:r>
              <a:rPr lang="en-US" sz="3000" cap="none" dirty="0"/>
              <a:t>Wired Ethernet for stability and security</a:t>
            </a:r>
          </a:p>
          <a:p>
            <a:r>
              <a:rPr lang="en-US" sz="3000" cap="none" dirty="0"/>
              <a:t>Star topology using a central switch</a:t>
            </a:r>
          </a:p>
          <a:p>
            <a:r>
              <a:rPr lang="en-US" sz="3000" b="1" cap="none" dirty="0"/>
              <a:t>Cabling used:</a:t>
            </a:r>
            <a:endParaRPr lang="en-US" sz="3000" cap="none" dirty="0"/>
          </a:p>
          <a:p>
            <a:r>
              <a:rPr lang="en-US" sz="3000" cap="none" dirty="0"/>
              <a:t>Copper straight-through cables</a:t>
            </a:r>
          </a:p>
          <a:p>
            <a:pPr lvl="1"/>
            <a:r>
              <a:rPr lang="en-US" sz="2600" cap="none" dirty="0"/>
              <a:t>Pcs → switch</a:t>
            </a:r>
          </a:p>
          <a:p>
            <a:pPr lvl="1"/>
            <a:r>
              <a:rPr lang="en-US" sz="2600" cap="none" dirty="0"/>
              <a:t>Printers &amp; scanner → switch</a:t>
            </a:r>
          </a:p>
          <a:p>
            <a:pPr lvl="1"/>
            <a:r>
              <a:rPr lang="en-US" sz="2600" cap="none" dirty="0"/>
              <a:t>Switch → router (LAN interface)</a:t>
            </a:r>
          </a:p>
          <a:p>
            <a:endParaRPr lang="en-US" dirty="0"/>
          </a:p>
          <a:p>
            <a:endParaRPr lang="en-US" dirty="0"/>
          </a:p>
        </p:txBody>
      </p:sp>
      <p:pic>
        <p:nvPicPr>
          <p:cNvPr id="5" name="Picture 4">
            <a:extLst>
              <a:ext uri="{FF2B5EF4-FFF2-40B4-BE49-F238E27FC236}">
                <a16:creationId xmlns:a16="http://schemas.microsoft.com/office/drawing/2014/main" id="{E9C7C552-892F-F83B-73FA-8EC3D5F66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6913" y="1269553"/>
            <a:ext cx="5049144" cy="4757058"/>
          </a:xfrm>
          <a:prstGeom prst="rect">
            <a:avLst/>
          </a:prstGeom>
        </p:spPr>
      </p:pic>
      <p:sp>
        <p:nvSpPr>
          <p:cNvPr id="7" name="TextBox 6">
            <a:extLst>
              <a:ext uri="{FF2B5EF4-FFF2-40B4-BE49-F238E27FC236}">
                <a16:creationId xmlns:a16="http://schemas.microsoft.com/office/drawing/2014/main" id="{3E48B695-EB45-77D0-D0F5-9B502CE8CCBE}"/>
              </a:ext>
            </a:extLst>
          </p:cNvPr>
          <p:cNvSpPr txBox="1"/>
          <p:nvPr/>
        </p:nvSpPr>
        <p:spPr>
          <a:xfrm>
            <a:off x="7260770" y="6026611"/>
            <a:ext cx="5049143" cy="646331"/>
          </a:xfrm>
          <a:prstGeom prst="rect">
            <a:avLst/>
          </a:prstGeom>
          <a:noFill/>
        </p:spPr>
        <p:txBody>
          <a:bodyPr wrap="square">
            <a:spAutoFit/>
          </a:bodyPr>
          <a:lstStyle/>
          <a:p>
            <a:r>
              <a:rPr lang="en-US" b="1" dirty="0"/>
              <a:t>Figure 1: Packet Tracer topology showing internal LAN devices connected to the switch and router.</a:t>
            </a:r>
          </a:p>
        </p:txBody>
      </p:sp>
    </p:spTree>
    <p:extLst>
      <p:ext uri="{BB962C8B-B14F-4D97-AF65-F5344CB8AC3E}">
        <p14:creationId xmlns:p14="http://schemas.microsoft.com/office/powerpoint/2010/main" val="398223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1C34-FCE5-F6FD-D749-F983E70796AA}"/>
              </a:ext>
            </a:extLst>
          </p:cNvPr>
          <p:cNvSpPr>
            <a:spLocks noGrp="1"/>
          </p:cNvSpPr>
          <p:nvPr>
            <p:ph type="title"/>
          </p:nvPr>
        </p:nvSpPr>
        <p:spPr>
          <a:xfrm>
            <a:off x="913775" y="119744"/>
            <a:ext cx="10364451" cy="1132114"/>
          </a:xfrm>
        </p:spPr>
        <p:txBody>
          <a:bodyPr/>
          <a:lstStyle/>
          <a:p>
            <a:r>
              <a:rPr lang="en-US" dirty="0"/>
              <a:t>IP Addressing &amp; Network Services</a:t>
            </a:r>
          </a:p>
        </p:txBody>
      </p:sp>
      <p:sp>
        <p:nvSpPr>
          <p:cNvPr id="3" name="Content Placeholder 2">
            <a:extLst>
              <a:ext uri="{FF2B5EF4-FFF2-40B4-BE49-F238E27FC236}">
                <a16:creationId xmlns:a16="http://schemas.microsoft.com/office/drawing/2014/main" id="{96325C48-DA5C-8D84-7E25-A63020530560}"/>
              </a:ext>
            </a:extLst>
          </p:cNvPr>
          <p:cNvSpPr>
            <a:spLocks noGrp="1"/>
          </p:cNvSpPr>
          <p:nvPr>
            <p:ph sz="quarter" idx="13"/>
          </p:nvPr>
        </p:nvSpPr>
        <p:spPr>
          <a:xfrm>
            <a:off x="913774" y="1088572"/>
            <a:ext cx="10363826" cy="5649686"/>
          </a:xfrm>
        </p:spPr>
        <p:txBody>
          <a:bodyPr>
            <a:normAutofit lnSpcReduction="10000"/>
          </a:bodyPr>
          <a:lstStyle/>
          <a:p>
            <a:r>
              <a:rPr lang="en-US" sz="2800" b="1" cap="none" dirty="0"/>
              <a:t>IP addressing scheme</a:t>
            </a:r>
          </a:p>
          <a:p>
            <a:pPr lvl="1"/>
            <a:r>
              <a:rPr lang="en-US" sz="2400" cap="none" dirty="0"/>
              <a:t>Implemented a </a:t>
            </a:r>
            <a:r>
              <a:rPr lang="en-US" sz="2400" b="1" cap="none" dirty="0"/>
              <a:t>private ipv4 network</a:t>
            </a:r>
            <a:r>
              <a:rPr lang="en-US" sz="2400" cap="none" dirty="0"/>
              <a:t> using the 192.168.20.0/24 address space</a:t>
            </a:r>
          </a:p>
          <a:p>
            <a:pPr lvl="1"/>
            <a:r>
              <a:rPr lang="en-US" sz="2400" cap="none" dirty="0"/>
              <a:t>Assigned the router’s LAN interface as the </a:t>
            </a:r>
            <a:r>
              <a:rPr lang="en-US" sz="2400" b="1" cap="none" dirty="0"/>
              <a:t>default gateway (192.168.20.1)</a:t>
            </a:r>
            <a:r>
              <a:rPr lang="en-US" sz="2400" cap="none" dirty="0"/>
              <a:t> for all internal devices</a:t>
            </a:r>
          </a:p>
          <a:p>
            <a:pPr lvl="1"/>
            <a:r>
              <a:rPr lang="en-US" sz="2400" cap="none" dirty="0"/>
              <a:t>Private addressing was chosen to </a:t>
            </a:r>
            <a:r>
              <a:rPr lang="en-US" sz="2400" b="1" cap="none" dirty="0"/>
              <a:t>protect internal systems</a:t>
            </a:r>
            <a:r>
              <a:rPr lang="en-US" sz="2400" cap="none" dirty="0"/>
              <a:t> and prevent direct exposure to the internet</a:t>
            </a:r>
          </a:p>
          <a:p>
            <a:r>
              <a:rPr lang="en-US" sz="2400" b="1" dirty="0"/>
              <a:t>Configured Network Services</a:t>
            </a:r>
          </a:p>
          <a:p>
            <a:pPr lvl="1"/>
            <a:r>
              <a:rPr lang="en-US" sz="2200" b="1" cap="none" dirty="0"/>
              <a:t>DHCP: </a:t>
            </a:r>
            <a:r>
              <a:rPr lang="en-US" sz="2200" cap="none" dirty="0"/>
              <a:t>Configured on the router to automatically assign IP addresses, subnet masks, default gateways, and DNS settings to internal devices</a:t>
            </a:r>
          </a:p>
          <a:p>
            <a:pPr lvl="1"/>
            <a:r>
              <a:rPr lang="en-US" sz="2200" b="1" cap="none" dirty="0"/>
              <a:t>DNS: </a:t>
            </a:r>
            <a:r>
              <a:rPr lang="en-US" sz="2200" cap="none" dirty="0"/>
              <a:t>Enabled name resolution to allow users to access internal services and the public website using human-readable URLs instead of IP addresses.</a:t>
            </a:r>
          </a:p>
          <a:p>
            <a:pPr marL="457200" lvl="1" indent="0">
              <a:buNone/>
            </a:pPr>
            <a:endParaRPr lang="en-US" sz="2200" cap="none" dirty="0"/>
          </a:p>
          <a:p>
            <a:endParaRPr lang="en-US" dirty="0"/>
          </a:p>
        </p:txBody>
      </p:sp>
    </p:spTree>
    <p:extLst>
      <p:ext uri="{BB962C8B-B14F-4D97-AF65-F5344CB8AC3E}">
        <p14:creationId xmlns:p14="http://schemas.microsoft.com/office/powerpoint/2010/main" val="4151422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83032-3953-E555-E65F-C61E3C29522F}"/>
              </a:ext>
            </a:extLst>
          </p:cNvPr>
          <p:cNvSpPr>
            <a:spLocks noGrp="1"/>
          </p:cNvSpPr>
          <p:nvPr>
            <p:ph type="title"/>
          </p:nvPr>
        </p:nvSpPr>
        <p:spPr>
          <a:xfrm>
            <a:off x="4648200" y="2634343"/>
            <a:ext cx="5900683" cy="1028151"/>
          </a:xfrm>
        </p:spPr>
        <p:txBody>
          <a:bodyPr/>
          <a:lstStyle/>
          <a:p>
            <a:endParaRPr lang="en-US" dirty="0"/>
          </a:p>
        </p:txBody>
      </p:sp>
      <p:sp>
        <p:nvSpPr>
          <p:cNvPr id="7" name="Content Placeholder 6">
            <a:extLst>
              <a:ext uri="{FF2B5EF4-FFF2-40B4-BE49-F238E27FC236}">
                <a16:creationId xmlns:a16="http://schemas.microsoft.com/office/drawing/2014/main" id="{44403690-F412-2492-CD1B-05F9DD5B2F4D}"/>
              </a:ext>
            </a:extLst>
          </p:cNvPr>
          <p:cNvSpPr>
            <a:spLocks noGrp="1"/>
          </p:cNvSpPr>
          <p:nvPr>
            <p:ph sz="quarter" idx="13"/>
          </p:nvPr>
        </p:nvSpPr>
        <p:spPr>
          <a:xfrm>
            <a:off x="913774" y="2367093"/>
            <a:ext cx="5780940" cy="2291994"/>
          </a:xfrm>
        </p:spPr>
        <p:txBody>
          <a:bodyPr/>
          <a:lstStyle/>
          <a:p>
            <a:endParaRPr lang="en-US" dirty="0"/>
          </a:p>
        </p:txBody>
      </p:sp>
      <p:pic>
        <p:nvPicPr>
          <p:cNvPr id="8" name="Content Placeholder 4">
            <a:extLst>
              <a:ext uri="{FF2B5EF4-FFF2-40B4-BE49-F238E27FC236}">
                <a16:creationId xmlns:a16="http://schemas.microsoft.com/office/drawing/2014/main" id="{656741BB-D6F8-EC43-93FF-380132DA4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915" y="618517"/>
            <a:ext cx="10712169" cy="4561113"/>
          </a:xfrm>
          <a:prstGeom prst="rect">
            <a:avLst/>
          </a:prstGeom>
        </p:spPr>
      </p:pic>
      <p:sp>
        <p:nvSpPr>
          <p:cNvPr id="10" name="TextBox 9">
            <a:extLst>
              <a:ext uri="{FF2B5EF4-FFF2-40B4-BE49-F238E27FC236}">
                <a16:creationId xmlns:a16="http://schemas.microsoft.com/office/drawing/2014/main" id="{F05BD68C-563C-D10C-96F6-B92251198CD5}"/>
              </a:ext>
            </a:extLst>
          </p:cNvPr>
          <p:cNvSpPr txBox="1"/>
          <p:nvPr/>
        </p:nvSpPr>
        <p:spPr>
          <a:xfrm>
            <a:off x="2416628" y="5245700"/>
            <a:ext cx="7000140" cy="461665"/>
          </a:xfrm>
          <a:prstGeom prst="rect">
            <a:avLst/>
          </a:prstGeom>
          <a:noFill/>
        </p:spPr>
        <p:txBody>
          <a:bodyPr wrap="square">
            <a:spAutoFit/>
          </a:bodyPr>
          <a:lstStyle/>
          <a:p>
            <a:r>
              <a:rPr lang="en-US" sz="2400" dirty="0"/>
              <a:t>Figure 2: Dynamically assigned IP on an internal PC.</a:t>
            </a:r>
          </a:p>
        </p:txBody>
      </p:sp>
    </p:spTree>
    <p:extLst>
      <p:ext uri="{BB962C8B-B14F-4D97-AF65-F5344CB8AC3E}">
        <p14:creationId xmlns:p14="http://schemas.microsoft.com/office/powerpoint/2010/main" val="1418804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2380-FFEC-13AF-167A-EC72A14E1201}"/>
              </a:ext>
            </a:extLst>
          </p:cNvPr>
          <p:cNvSpPr>
            <a:spLocks noGrp="1"/>
          </p:cNvSpPr>
          <p:nvPr>
            <p:ph type="title"/>
          </p:nvPr>
        </p:nvSpPr>
        <p:spPr>
          <a:xfrm>
            <a:off x="913775" y="163287"/>
            <a:ext cx="10364451" cy="1055913"/>
          </a:xfrm>
        </p:spPr>
        <p:txBody>
          <a:bodyPr/>
          <a:lstStyle/>
          <a:p>
            <a:r>
              <a:rPr lang="en-US" dirty="0"/>
              <a:t>Public Web Server Configuration</a:t>
            </a:r>
          </a:p>
        </p:txBody>
      </p:sp>
      <p:sp>
        <p:nvSpPr>
          <p:cNvPr id="3" name="Content Placeholder 2">
            <a:extLst>
              <a:ext uri="{FF2B5EF4-FFF2-40B4-BE49-F238E27FC236}">
                <a16:creationId xmlns:a16="http://schemas.microsoft.com/office/drawing/2014/main" id="{F6C8686B-17D4-1C31-0047-931AC587C313}"/>
              </a:ext>
            </a:extLst>
          </p:cNvPr>
          <p:cNvSpPr>
            <a:spLocks noGrp="1"/>
          </p:cNvSpPr>
          <p:nvPr>
            <p:ph sz="quarter" idx="13"/>
          </p:nvPr>
        </p:nvSpPr>
        <p:spPr>
          <a:xfrm>
            <a:off x="359230" y="1088571"/>
            <a:ext cx="11462656" cy="2647918"/>
          </a:xfrm>
        </p:spPr>
        <p:txBody>
          <a:bodyPr>
            <a:normAutofit lnSpcReduction="10000"/>
          </a:bodyPr>
          <a:lstStyle/>
          <a:p>
            <a:r>
              <a:rPr lang="en-US" cap="none" dirty="0"/>
              <a:t>To represent the company’s public-facing services, a </a:t>
            </a:r>
            <a:r>
              <a:rPr lang="en-US" b="1" cap="none" dirty="0"/>
              <a:t>web server</a:t>
            </a:r>
            <a:r>
              <a:rPr lang="en-US" cap="none" dirty="0"/>
              <a:t> was deployed as part of the network design. The server hosts the company website and is configured to be accessible from both internal LAN users and external internet users.</a:t>
            </a:r>
          </a:p>
          <a:p>
            <a:r>
              <a:rPr lang="en-US" cap="none" dirty="0"/>
              <a:t>The web server is associated with the domain name </a:t>
            </a:r>
            <a:r>
              <a:rPr lang="en-US" b="1" cap="none" dirty="0"/>
              <a:t>www.company.com</a:t>
            </a:r>
            <a:r>
              <a:rPr lang="en-US" cap="none" dirty="0"/>
              <a:t>, allowing access via a URL rather than an IP address. This setup mirrors real-world business environments where customers interact with services through domain names. Proper routing and DNS configuration ensure seamless access from authorized networks.</a:t>
            </a:r>
          </a:p>
          <a:p>
            <a:endParaRPr lang="en-US" dirty="0"/>
          </a:p>
        </p:txBody>
      </p:sp>
      <p:pic>
        <p:nvPicPr>
          <p:cNvPr id="5" name="Picture 4">
            <a:extLst>
              <a:ext uri="{FF2B5EF4-FFF2-40B4-BE49-F238E27FC236}">
                <a16:creationId xmlns:a16="http://schemas.microsoft.com/office/drawing/2014/main" id="{209068A3-3A9D-29C3-3992-BB5D90E49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486" y="3657600"/>
            <a:ext cx="9895740" cy="2857437"/>
          </a:xfrm>
          <a:prstGeom prst="rect">
            <a:avLst/>
          </a:prstGeom>
        </p:spPr>
      </p:pic>
      <p:sp>
        <p:nvSpPr>
          <p:cNvPr id="7" name="TextBox 6">
            <a:extLst>
              <a:ext uri="{FF2B5EF4-FFF2-40B4-BE49-F238E27FC236}">
                <a16:creationId xmlns:a16="http://schemas.microsoft.com/office/drawing/2014/main" id="{43C28B02-98C7-9919-343D-78A783ECC300}"/>
              </a:ext>
            </a:extLst>
          </p:cNvPr>
          <p:cNvSpPr txBox="1"/>
          <p:nvPr/>
        </p:nvSpPr>
        <p:spPr>
          <a:xfrm>
            <a:off x="4452257" y="6482771"/>
            <a:ext cx="3570514" cy="369723"/>
          </a:xfrm>
          <a:prstGeom prst="rect">
            <a:avLst/>
          </a:prstGeom>
          <a:noFill/>
        </p:spPr>
        <p:txBody>
          <a:bodyPr wrap="square">
            <a:spAutoFit/>
          </a:bodyPr>
          <a:lstStyle/>
          <a:p>
            <a:r>
              <a:rPr lang="en-US" dirty="0"/>
              <a:t>Figure 3: Public server configuration</a:t>
            </a:r>
          </a:p>
        </p:txBody>
      </p:sp>
    </p:spTree>
    <p:extLst>
      <p:ext uri="{BB962C8B-B14F-4D97-AF65-F5344CB8AC3E}">
        <p14:creationId xmlns:p14="http://schemas.microsoft.com/office/powerpoint/2010/main" val="151260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2479-4BD5-3604-DA07-DF9ADD4D5D4F}"/>
              </a:ext>
            </a:extLst>
          </p:cNvPr>
          <p:cNvSpPr>
            <a:spLocks noGrp="1"/>
          </p:cNvSpPr>
          <p:nvPr>
            <p:ph type="title"/>
          </p:nvPr>
        </p:nvSpPr>
        <p:spPr>
          <a:xfrm>
            <a:off x="913775" y="195944"/>
            <a:ext cx="10364451" cy="959902"/>
          </a:xfrm>
        </p:spPr>
        <p:txBody>
          <a:bodyPr/>
          <a:lstStyle/>
          <a:p>
            <a:r>
              <a:rPr lang="en-US" dirty="0"/>
              <a:t>Internet Connectivity &amp; NAT Implementation</a:t>
            </a:r>
          </a:p>
        </p:txBody>
      </p:sp>
      <p:sp>
        <p:nvSpPr>
          <p:cNvPr id="3" name="Content Placeholder 2">
            <a:extLst>
              <a:ext uri="{FF2B5EF4-FFF2-40B4-BE49-F238E27FC236}">
                <a16:creationId xmlns:a16="http://schemas.microsoft.com/office/drawing/2014/main" id="{C71B438D-AA74-4124-1CD8-EB8E62A30672}"/>
              </a:ext>
            </a:extLst>
          </p:cNvPr>
          <p:cNvSpPr>
            <a:spLocks noGrp="1"/>
          </p:cNvSpPr>
          <p:nvPr>
            <p:ph sz="quarter" idx="13"/>
          </p:nvPr>
        </p:nvSpPr>
        <p:spPr>
          <a:xfrm>
            <a:off x="304801" y="1034144"/>
            <a:ext cx="5649685" cy="5344886"/>
          </a:xfrm>
        </p:spPr>
        <p:txBody>
          <a:bodyPr>
            <a:normAutofit fontScale="92500" lnSpcReduction="20000"/>
          </a:bodyPr>
          <a:lstStyle/>
          <a:p>
            <a:r>
              <a:rPr lang="en-US" sz="2400" cap="none" dirty="0"/>
              <a:t>Internet access for internal users is provided through an </a:t>
            </a:r>
            <a:r>
              <a:rPr lang="en-US" sz="2400" b="1" cap="none" dirty="0"/>
              <a:t>edge router</a:t>
            </a:r>
            <a:r>
              <a:rPr lang="en-US" sz="2400" cap="none" dirty="0"/>
              <a:t> connecting the LAN to the ISP network. To enable communication between private internal addresses and the public internet, </a:t>
            </a:r>
            <a:r>
              <a:rPr lang="en-US" sz="2400" b="1" cap="none" dirty="0"/>
              <a:t>network address translation (NAT overload / PAT)</a:t>
            </a:r>
            <a:r>
              <a:rPr lang="en-US" sz="2400" cap="none" dirty="0"/>
              <a:t> was implemented on the router.</a:t>
            </a:r>
          </a:p>
          <a:p>
            <a:r>
              <a:rPr lang="en-US" sz="2400" cap="none" dirty="0"/>
              <a:t>Nat translates multiple private </a:t>
            </a:r>
            <a:r>
              <a:rPr lang="en-US" sz="2400" cap="none" dirty="0" err="1"/>
              <a:t>ip</a:t>
            </a:r>
            <a:r>
              <a:rPr lang="en-US" sz="2400" cap="none" dirty="0"/>
              <a:t> addresses into a single public-facing address, allowing internal users to browse the internet securely while hiding internal network details. This approach is cost-effective, widely used in SOHO environments, and aligns with basic cybersecurity best practices.</a:t>
            </a:r>
          </a:p>
          <a:p>
            <a:endParaRPr lang="en-US" dirty="0"/>
          </a:p>
        </p:txBody>
      </p:sp>
      <p:pic>
        <p:nvPicPr>
          <p:cNvPr id="5" name="Picture 4">
            <a:extLst>
              <a:ext uri="{FF2B5EF4-FFF2-40B4-BE49-F238E27FC236}">
                <a16:creationId xmlns:a16="http://schemas.microsoft.com/office/drawing/2014/main" id="{AED371BA-01E0-D8C0-C457-B0E378582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4487" y="1342359"/>
            <a:ext cx="6237512" cy="3115732"/>
          </a:xfrm>
          <a:prstGeom prst="rect">
            <a:avLst/>
          </a:prstGeom>
        </p:spPr>
      </p:pic>
      <p:pic>
        <p:nvPicPr>
          <p:cNvPr id="7" name="Picture 6">
            <a:extLst>
              <a:ext uri="{FF2B5EF4-FFF2-40B4-BE49-F238E27FC236}">
                <a16:creationId xmlns:a16="http://schemas.microsoft.com/office/drawing/2014/main" id="{CA65C478-7892-0B0B-754E-13A9479EB9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954487" y="3830743"/>
            <a:ext cx="6237513" cy="1465547"/>
          </a:xfrm>
          <a:prstGeom prst="rect">
            <a:avLst/>
          </a:prstGeom>
        </p:spPr>
      </p:pic>
      <p:sp>
        <p:nvSpPr>
          <p:cNvPr id="9" name="TextBox 8">
            <a:extLst>
              <a:ext uri="{FF2B5EF4-FFF2-40B4-BE49-F238E27FC236}">
                <a16:creationId xmlns:a16="http://schemas.microsoft.com/office/drawing/2014/main" id="{8DF1BEC0-EAE4-BB9D-E42A-36A3250341D8}"/>
              </a:ext>
            </a:extLst>
          </p:cNvPr>
          <p:cNvSpPr txBox="1"/>
          <p:nvPr/>
        </p:nvSpPr>
        <p:spPr>
          <a:xfrm>
            <a:off x="6406243" y="5323894"/>
            <a:ext cx="4871983" cy="369332"/>
          </a:xfrm>
          <a:prstGeom prst="rect">
            <a:avLst/>
          </a:prstGeom>
          <a:noFill/>
        </p:spPr>
        <p:txBody>
          <a:bodyPr wrap="square">
            <a:spAutoFit/>
          </a:bodyPr>
          <a:lstStyle/>
          <a:p>
            <a:r>
              <a:rPr lang="en-US" dirty="0"/>
              <a:t>Figure 4: Router CLI showing NAT configuration</a:t>
            </a:r>
          </a:p>
        </p:txBody>
      </p:sp>
    </p:spTree>
    <p:extLst>
      <p:ext uri="{BB962C8B-B14F-4D97-AF65-F5344CB8AC3E}">
        <p14:creationId xmlns:p14="http://schemas.microsoft.com/office/powerpoint/2010/main" val="1425391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3CA7-705D-5C98-1BD9-E507F687A582}"/>
              </a:ext>
            </a:extLst>
          </p:cNvPr>
          <p:cNvSpPr>
            <a:spLocks noGrp="1"/>
          </p:cNvSpPr>
          <p:nvPr>
            <p:ph type="title"/>
          </p:nvPr>
        </p:nvSpPr>
        <p:spPr>
          <a:xfrm>
            <a:off x="913775" y="424544"/>
            <a:ext cx="10364451" cy="1219200"/>
          </a:xfrm>
        </p:spPr>
        <p:txBody>
          <a:bodyPr/>
          <a:lstStyle/>
          <a:p>
            <a:r>
              <a:rPr lang="en-US" dirty="0"/>
              <a:t>External Access &amp; Public Website Validation</a:t>
            </a:r>
          </a:p>
        </p:txBody>
      </p:sp>
      <p:sp>
        <p:nvSpPr>
          <p:cNvPr id="3" name="Content Placeholder 2">
            <a:extLst>
              <a:ext uri="{FF2B5EF4-FFF2-40B4-BE49-F238E27FC236}">
                <a16:creationId xmlns:a16="http://schemas.microsoft.com/office/drawing/2014/main" id="{3D0D4B3F-7403-0DED-66BC-C25BCD2C176B}"/>
              </a:ext>
            </a:extLst>
          </p:cNvPr>
          <p:cNvSpPr>
            <a:spLocks noGrp="1"/>
          </p:cNvSpPr>
          <p:nvPr>
            <p:ph sz="quarter" idx="13"/>
          </p:nvPr>
        </p:nvSpPr>
        <p:spPr>
          <a:xfrm>
            <a:off x="293914" y="1643744"/>
            <a:ext cx="5998029" cy="4789711"/>
          </a:xfrm>
        </p:spPr>
        <p:txBody>
          <a:bodyPr>
            <a:normAutofit fontScale="92500"/>
          </a:bodyPr>
          <a:lstStyle/>
          <a:p>
            <a:r>
              <a:rPr lang="en-US" sz="2400" cap="none" dirty="0"/>
              <a:t>To validate external accessibility, an </a:t>
            </a:r>
            <a:r>
              <a:rPr lang="en-US" sz="2400" b="1" cap="none" dirty="0"/>
              <a:t>external client</a:t>
            </a:r>
            <a:r>
              <a:rPr lang="en-US" sz="2400" cap="none" dirty="0"/>
              <a:t> was configured outside the internal LAN to simulate an internet user. This client accesses the RICHKIM EMPIRE website using the public URL </a:t>
            </a:r>
            <a:r>
              <a:rPr lang="en-US" sz="2400" b="1" cap="none" dirty="0"/>
              <a:t>http://www.company.com</a:t>
            </a:r>
            <a:r>
              <a:rPr lang="en-US" sz="2400" cap="none" dirty="0"/>
              <a:t>.</a:t>
            </a:r>
          </a:p>
          <a:p>
            <a:r>
              <a:rPr lang="en-US" sz="2400" cap="none" dirty="0"/>
              <a:t>Successful access confirms that routing, NAT, and DNS are functioning correctly and that the public web server is reachable from outside the organization. This step demonstrates that the network supports real-world customer interaction without exposing internal resources.</a:t>
            </a:r>
          </a:p>
          <a:p>
            <a:endParaRPr lang="en-US" sz="2400" cap="none" dirty="0"/>
          </a:p>
        </p:txBody>
      </p:sp>
      <p:pic>
        <p:nvPicPr>
          <p:cNvPr id="5" name="Picture 4">
            <a:extLst>
              <a:ext uri="{FF2B5EF4-FFF2-40B4-BE49-F238E27FC236}">
                <a16:creationId xmlns:a16="http://schemas.microsoft.com/office/drawing/2014/main" id="{358B8C5C-2E76-8481-4FC8-A54F2090C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96143"/>
            <a:ext cx="6096000" cy="3505198"/>
          </a:xfrm>
          <a:prstGeom prst="rect">
            <a:avLst/>
          </a:prstGeom>
        </p:spPr>
      </p:pic>
      <p:sp>
        <p:nvSpPr>
          <p:cNvPr id="7" name="TextBox 6">
            <a:extLst>
              <a:ext uri="{FF2B5EF4-FFF2-40B4-BE49-F238E27FC236}">
                <a16:creationId xmlns:a16="http://schemas.microsoft.com/office/drawing/2014/main" id="{2599A970-3AE1-692B-BD82-EA7970A133DE}"/>
              </a:ext>
            </a:extLst>
          </p:cNvPr>
          <p:cNvSpPr txBox="1"/>
          <p:nvPr/>
        </p:nvSpPr>
        <p:spPr>
          <a:xfrm>
            <a:off x="6825343" y="5301341"/>
            <a:ext cx="4767944" cy="646331"/>
          </a:xfrm>
          <a:prstGeom prst="rect">
            <a:avLst/>
          </a:prstGeom>
          <a:noFill/>
        </p:spPr>
        <p:txBody>
          <a:bodyPr wrap="square">
            <a:spAutoFit/>
          </a:bodyPr>
          <a:lstStyle/>
          <a:p>
            <a:pPr algn="ctr"/>
            <a:r>
              <a:rPr lang="en-US" dirty="0"/>
              <a:t>Figure 6: External client successfully loading the company website in a web browser</a:t>
            </a:r>
          </a:p>
        </p:txBody>
      </p:sp>
    </p:spTree>
    <p:extLst>
      <p:ext uri="{BB962C8B-B14F-4D97-AF65-F5344CB8AC3E}">
        <p14:creationId xmlns:p14="http://schemas.microsoft.com/office/powerpoint/2010/main" val="1044152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9175-29C9-AB33-6B72-69D20C334348}"/>
              </a:ext>
            </a:extLst>
          </p:cNvPr>
          <p:cNvSpPr>
            <a:spLocks noGrp="1"/>
          </p:cNvSpPr>
          <p:nvPr>
            <p:ph type="title"/>
          </p:nvPr>
        </p:nvSpPr>
        <p:spPr>
          <a:xfrm>
            <a:off x="913775" y="326571"/>
            <a:ext cx="10364451" cy="1121229"/>
          </a:xfrm>
        </p:spPr>
        <p:txBody>
          <a:bodyPr/>
          <a:lstStyle/>
          <a:p>
            <a:r>
              <a:rPr lang="en-US" dirty="0"/>
              <a:t>Conclusion &amp; Key Takeaways</a:t>
            </a:r>
          </a:p>
        </p:txBody>
      </p:sp>
      <p:sp>
        <p:nvSpPr>
          <p:cNvPr id="3" name="Content Placeholder 2">
            <a:extLst>
              <a:ext uri="{FF2B5EF4-FFF2-40B4-BE49-F238E27FC236}">
                <a16:creationId xmlns:a16="http://schemas.microsoft.com/office/drawing/2014/main" id="{AC0348C4-520A-5C37-A590-4F99FB2F1C52}"/>
              </a:ext>
            </a:extLst>
          </p:cNvPr>
          <p:cNvSpPr>
            <a:spLocks noGrp="1"/>
          </p:cNvSpPr>
          <p:nvPr>
            <p:ph sz="quarter" idx="13"/>
          </p:nvPr>
        </p:nvSpPr>
        <p:spPr>
          <a:xfrm>
            <a:off x="913774" y="1447799"/>
            <a:ext cx="10668626" cy="5203371"/>
          </a:xfrm>
        </p:spPr>
        <p:txBody>
          <a:bodyPr>
            <a:normAutofit lnSpcReduction="10000"/>
          </a:bodyPr>
          <a:lstStyle/>
          <a:p>
            <a:r>
              <a:rPr lang="en-US" sz="2400" cap="none" dirty="0"/>
              <a:t>This capstone project demonstrated the practical design and implementation of a secure and functional network for </a:t>
            </a:r>
            <a:r>
              <a:rPr lang="en-US" sz="2400" b="1" cap="none" dirty="0"/>
              <a:t>RICHKIM EMPIRE</a:t>
            </a:r>
            <a:r>
              <a:rPr lang="en-US" sz="2400" cap="none" dirty="0"/>
              <a:t>, a SOHO-focused cybersecurity startup. The network was designed to meet real-world business needs while remaining cost-effective and scalable.</a:t>
            </a:r>
          </a:p>
          <a:p>
            <a:r>
              <a:rPr lang="en-US" sz="2400" cap="none" dirty="0"/>
              <a:t>Key networking concepts were applied, including structured IP addressing, DHCP and DNS services, NAT for secure internet access, and the deployment of a public web server. Each component was configured, tested, and validated to ensure reliable internal communication and controlled external access.</a:t>
            </a:r>
          </a:p>
          <a:p>
            <a:r>
              <a:rPr lang="en-US" sz="2400" b="1" cap="none" dirty="0"/>
              <a:t>Key takeaway:</a:t>
            </a:r>
            <a:r>
              <a:rPr lang="en-US" sz="2400" cap="none" dirty="0"/>
              <a:t> the designed network is scalable, secure, and aligned with real-world SOHO cybersecurity best practices.</a:t>
            </a:r>
          </a:p>
          <a:p>
            <a:pPr lvl="1"/>
            <a:r>
              <a:rPr lang="en-US" sz="2000" i="1" cap="none" dirty="0"/>
              <a:t>The company is now well-positioned to deliver reliable cybersecurity services supported by a strong networking foundation.</a:t>
            </a:r>
            <a:endParaRPr lang="en-US" sz="2000" cap="none" dirty="0"/>
          </a:p>
          <a:p>
            <a:endParaRPr lang="en-US" cap="none" dirty="0"/>
          </a:p>
        </p:txBody>
      </p:sp>
    </p:spTree>
    <p:extLst>
      <p:ext uri="{BB962C8B-B14F-4D97-AF65-F5344CB8AC3E}">
        <p14:creationId xmlns:p14="http://schemas.microsoft.com/office/powerpoint/2010/main" val="421348604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89</TotalTime>
  <Words>881</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Tw Cen MT</vt:lpstr>
      <vt:lpstr>Wingdings</vt:lpstr>
      <vt:lpstr>Droplet</vt:lpstr>
      <vt:lpstr>NETWORKING FUNDAMENTALS CAPSTONE PROJECT</vt:lpstr>
      <vt:lpstr>introduction</vt:lpstr>
      <vt:lpstr>Business context</vt:lpstr>
      <vt:lpstr>Network Requirements</vt:lpstr>
      <vt:lpstr>Internal Network Design Overview</vt:lpstr>
      <vt:lpstr>Physical &amp; Logical Topology</vt:lpstr>
      <vt:lpstr>IP Addressing &amp; Network Services</vt:lpstr>
      <vt:lpstr>PowerPoint Presentation</vt:lpstr>
      <vt:lpstr>Public Web Server Configuration</vt:lpstr>
      <vt:lpstr>Internet Connectivity &amp; NAT Implementation</vt:lpstr>
      <vt:lpstr>External Access &amp; Public Website Validation</vt:lpstr>
      <vt:lpstr>Conclusion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ARCHIBONG</dc:creator>
  <cp:lastModifiedBy>RICHARD ARCHIBONG</cp:lastModifiedBy>
  <cp:revision>31</cp:revision>
  <dcterms:created xsi:type="dcterms:W3CDTF">2026-01-19T17:38:53Z</dcterms:created>
  <dcterms:modified xsi:type="dcterms:W3CDTF">2026-01-19T19:08:23Z</dcterms:modified>
</cp:coreProperties>
</file>